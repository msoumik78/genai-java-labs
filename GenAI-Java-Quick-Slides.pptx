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B45309"/>
                </a:solidFill>
                <a:latin typeface="Calibri"/>
              </a:rPr>
              <a:t>WORKSHOP  ·  JAVA 21  ·  SPRING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F172A"/>
                </a:solidFill>
                <a:latin typeface="Calibri"/>
              </a:rPr>
              <a:t>GenAI on the JVM is not a Python 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515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75569"/>
                </a:solidFill>
                <a:latin typeface="Calibri"/>
              </a:rPr>
              <a:t>Open-weight models are exploding (MoE, 1-bit, disk-streamed experts).
Spring still needs typed beans, pools, and SQL — not a prompt ACL.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17720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F172A"/>
                </a:solidFill>
                <a:latin typeface="Calibri"/>
              </a:rPr>
              <a:t>Lab 1  ·  Bulkhead
Slow LLM must not starve /orders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461772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475488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F172A"/>
                </a:solidFill>
                <a:latin typeface="Calibri"/>
              </a:rPr>
              <a:t>Lab 2  ·  Multi-tenant RAG
tenant_id in SQL / RLS, not the 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61772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475488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F172A"/>
                </a:solidFill>
                <a:latin typeface="Calibri"/>
              </a:rPr>
              <a:t>Cohort  ·  6 Sundays from 10 Oct
₹10,000 / seat  ·  4 hrs 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GenAI Java  ·  open weights  ·  Spring AI  ·  production 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5379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Calibri"/>
              </a:rPr>
              <a:t>1  / 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26AA7"/>
                </a:solidFill>
                <a:latin typeface="Calibri"/>
              </a:rPr>
              <a:t>01  ·  THE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We all know LLMs. The interesting layer is how they run.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27889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2788920" cy="91440"/>
          </a:xfrm>
          <a:prstGeom prst="rect">
            <a:avLst/>
          </a:prstGeom>
          <a:solidFill>
            <a:srgbClr val="02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35331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Dense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1920240"/>
            <a:ext cx="25146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Every parameter fires every token. GPT-class API. Simple. Expensive at the edge.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143000"/>
            <a:ext cx="27889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143000"/>
            <a:ext cx="2788920" cy="914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135331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MoE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1920240"/>
            <a:ext cx="25146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Hundreds of experts; few activate. Qwen / Mixtral / GLM scale without dense cost.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143000"/>
            <a:ext cx="27889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143000"/>
            <a:ext cx="2788920" cy="914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35331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Colibri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920240"/>
            <a:ext cx="25146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Pure C. Stream routed experts from NVMe. ~744B MoE on ~25 GB RAM. SSD is a memory tier.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143000"/>
            <a:ext cx="27889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143000"/>
            <a:ext cx="2788920" cy="9144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6024" y="135331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Bonsai · PrismML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20240"/>
            <a:ext cx="25146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1-bit / ternary Qwen 27B. ~4 GB on a phone. Apache-2. End-to-end low-bit, not fake quant.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526280"/>
            <a:ext cx="11338560" cy="173736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26AA7"/>
                </a:solidFill>
                <a:latin typeface="Calibri"/>
              </a:rPr>
              <a:t>Why Java teams should care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75569"/>
                </a:solidFill>
                <a:latin typeface="Calibri"/>
              </a:rPr>
              <a:t>MoE sparsity, Colibri’s disk-streamed experts, and Bonsai on-device are systems problems — pools, RAM, NVMe — not prompt engineering. Python notebooks hide the runtime. Spring Boot cannot: ChatClient is a bean with a thread pool, a timeout, and a bill. IT will ask for zero-cloud (still a laptop, still weights on disk). That is the workshop.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GenAI Java  ·  open weights  ·  Spring AI  ·  production RAG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5379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Calibri"/>
              </a:rPr>
              <a:t>2  / 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26AA7"/>
                </a:solidFill>
                <a:latin typeface="Calibri"/>
              </a:rPr>
              <a:t>02  ·  SPRING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Main beans — one interface, many auto-configs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70432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45309"/>
                </a:solidFill>
                <a:latin typeface="Calibri"/>
              </a:rPr>
              <a:t>ChatClient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901952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75569"/>
                </a:solidFill>
                <a:latin typeface="Calibri"/>
              </a:rPr>
              <a:t>Fluent API controllers call. Built from ChatClient.Builder. Advisors, memory, tools.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70432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45309"/>
                </a:solidFill>
                <a:latin typeface="Calibri"/>
              </a:rPr>
              <a:t>ChatModel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901952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75569"/>
                </a:solidFill>
                <a:latin typeface="Calibri"/>
              </a:rPr>
              <a:t>The SPI. OpenAiChatModel, OllamaChatModel, VertexAiGeminiChatModel…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170432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7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45309"/>
                </a:solidFill>
                <a:latin typeface="Calibri"/>
              </a:rPr>
              <a:t>EmbeddingModel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7" y="1901952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75569"/>
                </a:solidFill>
                <a:latin typeface="Calibri"/>
              </a:rPr>
              <a:t>Vectors for RAG. Dims, prefixes, ONNX vs HTTP differ per provider.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639312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840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45309"/>
                </a:solidFill>
                <a:latin typeface="Calibri"/>
              </a:rPr>
              <a:t>VectorStore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370832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75569"/>
                </a:solidFill>
                <a:latin typeface="Calibri"/>
              </a:rPr>
              <a:t>Similarity API. Filter is your job — or you leak tenants.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639312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3840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45309"/>
                </a:solidFill>
                <a:latin typeface="Calibri"/>
              </a:rPr>
              <a:t>Observation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4370832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75569"/>
                </a:solidFill>
                <a:latin typeface="Calibri"/>
              </a:rPr>
              <a:t>Micrometer: model, tokens, latency. Guardrails stop the span as error.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3639312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7" y="3840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45309"/>
                </a:solidFill>
                <a:latin typeface="Calibri"/>
              </a:rPr>
              <a:t>ToolCallback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7" y="4370832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75569"/>
                </a:solidFill>
                <a:latin typeface="Calibri"/>
              </a:rPr>
              <a:t>Function calling. Side effects must sit outside retries.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GenAI Java  ·  open weights  ·  Spring AI  ·  production RAG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5379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Calibri"/>
              </a:rPr>
              <a:t>3  / 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26AA7"/>
                </a:solidFill>
                <a:latin typeface="Calibri"/>
              </a:rPr>
              <a:t>02  ·  SAME CHAT COMPLETIONS MYTH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Python swaps base_url. Spring still wants a bean per runtime.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78992"/>
            <a:ext cx="379476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1704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6AA7"/>
                </a:solidFill>
                <a:latin typeface="Calibri"/>
              </a:rPr>
              <a:t>OpenAI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53619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5309"/>
                </a:solidFill>
                <a:latin typeface="Calibri"/>
              </a:rPr>
              <a:t>Python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10512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883664"/>
            <a:ext cx="3337560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E3A5F"/>
                </a:solidFill>
                <a:latin typeface="Consolas"/>
              </a:rPr>
              <a:t>from openai import OpenAI
c = OpenAI()  # api.openai.com
c.chat.completions.create(
  model="gpt-4o-mini",
  messages=[{"role":"user",
    "content": q}])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8404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47857"/>
                </a:solidFill>
                <a:latin typeface="Calibri"/>
              </a:rPr>
              <a:t>Spring bean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11480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4187952"/>
            <a:ext cx="333756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E3A5F"/>
                </a:solidFill>
                <a:latin typeface="Consolas"/>
              </a:rPr>
              <a:t>@Bean ChatClient openai(
  OpenAiChatModel m) {
  return ChatClient.create(m);
}
spring.ai.openai.api-key
spring.ai.openai.chat.options.model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078992"/>
            <a:ext cx="379476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1704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6AA7"/>
                </a:solidFill>
                <a:latin typeface="Calibri"/>
              </a:rPr>
              <a:t>Ollama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153619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5309"/>
                </a:solidFill>
                <a:latin typeface="Calibri"/>
              </a:rPr>
              <a:t>Python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1810512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1883664"/>
            <a:ext cx="3337560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E3A5F"/>
                </a:solidFill>
                <a:latin typeface="Consolas"/>
              </a:rPr>
              <a:t>from openai import OpenAI
c = OpenAI(
  base_url="http://127.0.0.1:11434/v1",
  api_key="ollama")
c.chat.completions.create(
  model="llama3.2", messages=…)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38404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47857"/>
                </a:solidFill>
                <a:latin typeface="Calibri"/>
              </a:rPr>
              <a:t>Spring bean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411480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4187952"/>
            <a:ext cx="333756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E3A5F"/>
                </a:solidFill>
                <a:latin typeface="Consolas"/>
              </a:rPr>
              <a:t>@Bean ChatClient ollama(
  OllamaChatModel m) {
  return ChatClient.create(m);
}
spring.ai.ollama.base-url
spring.ai.ollama.chat.options.model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078992"/>
            <a:ext cx="379476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11704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6AA7"/>
                </a:solidFill>
                <a:latin typeface="Calibri"/>
              </a:rPr>
              <a:t>Gemini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153619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5309"/>
                </a:solidFill>
                <a:latin typeface="Calibri"/>
              </a:rPr>
              <a:t>Python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1810512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76488" y="1883664"/>
            <a:ext cx="3337560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E3A5F"/>
                </a:solidFill>
                <a:latin typeface="Consolas"/>
              </a:rPr>
              <a:t>from google import genai
c = genai.Client()
c.models.generate_content(
  model="gemini-2.5-flash",
  contents=q)
# not /v1/chat/completions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38404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47857"/>
                </a:solidFill>
                <a:latin typeface="Calibri"/>
              </a:rPr>
              <a:t>Spring bean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6760" y="411480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76488" y="4187952"/>
            <a:ext cx="333756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E3A5F"/>
                </a:solidFill>
                <a:latin typeface="Consolas"/>
              </a:rPr>
              <a:t>@Bean ChatClient gemini(
  VertexAiGeminiChatModel m) {
  return ChatClient.create(m);
}
spring.ai.vertex.ai.gemini
  .project-id  .location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GenAI Java  ·  open weights  ·  Spring AI  ·  production RAG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5379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Calibri"/>
              </a:rPr>
              <a:t>4  / 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26AA7"/>
                </a:solidFill>
                <a:latin typeface="Calibri"/>
              </a:rPr>
              <a:t>03  ·  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Bulkhead: a slow model must not starve the rest of the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70432"/>
            <a:ext cx="370332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E123C"/>
                </a:solidFill>
                <a:latin typeface="Calibri"/>
              </a:rPr>
              <a:t>Naive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3337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75569"/>
                </a:solidFill>
                <a:latin typeface="Calibri"/>
              </a:rPr>
              <a:t>Chat holds the Tomcat request thread (max 8 on the laptop demo).
/orders is 1 ms — until ten chats arrive.
LLM-shaped failure: 429 vs 5xx vs hang. Retrying a completion like GET double-posts a refund.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170432"/>
            <a:ext cx="370332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32588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47857"/>
                </a:solidFill>
                <a:latin typeface="Calibri"/>
              </a:rPr>
              <a:t>Fenced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783080"/>
            <a:ext cx="3337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75569"/>
                </a:solidFill>
                <a:latin typeface="Calibri"/>
              </a:rPr>
              <a:t>Dedicated executor, fence-size = 2.
Extra chat → 429, not a stuck servlet.
/orders stays snappy. Bulkhead is isolation, not “a connection pool slide.”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170432"/>
            <a:ext cx="365760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325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45309"/>
                </a:solidFill>
                <a:latin typeface="Calibri"/>
              </a:rPr>
              <a:t>Idempotency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7830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75569"/>
                </a:solidFill>
                <a:latin typeface="Calibri"/>
              </a:rPr>
              <a:t>Side effect once (ledger), then retry the model.
Never refund inside the retry loop.
Tools are not GETs.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GenAI Java  ·  open weights  ·  Spring AI  ·  production 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5379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Calibri"/>
              </a:rPr>
              <a:t>5  / 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26AA7"/>
                </a:solidFill>
                <a:latin typeface="Calibri"/>
              </a:rPr>
              <a:t>04  ·  INGEST BEFORE YOU EMBED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A real RAG pipeline starts with the file, not the vector 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15568"/>
            <a:ext cx="379476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618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6AA7"/>
                </a:solidFill>
                <a:latin typeface="Calibri"/>
              </a:rPr>
              <a:t>1. Sniff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682496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Open the PDF. If extractable text density is high → born-digital. If almost no Unicode / only images → scanned. Do not OCR a text PDF; do not PDFBox a scan.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15568"/>
            <a:ext cx="379476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2618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6AA7"/>
                </a:solidFill>
                <a:latin typeface="Calibri"/>
              </a:rPr>
              <a:t>2. Digital parse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1682496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Apache PDFBox (Java): page text, bookmarks, fonts. Keep reading order. Fail closed if glyphs are empty.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115568"/>
            <a:ext cx="379476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12618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6AA7"/>
                </a:solidFill>
                <a:latin typeface="Calibri"/>
              </a:rPr>
              <a:t>3. Scanned parse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1682496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Docling (layout + OCR): pages, tables, figures. Call it from Java as a sidecar if you must; do not pretend PDFBox reads pixels.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630168"/>
            <a:ext cx="379476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7764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6AA7"/>
                </a:solidFill>
                <a:latin typeface="Calibri"/>
              </a:rPr>
              <a:t>4. Section-aware chunks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4197096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Split on headings / ToC / H1–H3, not a blind 512-token window. A “chunk” is a section with parent title — that is what retrieval ranks.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630168"/>
            <a:ext cx="379476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37764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6AA7"/>
                </a:solidFill>
                <a:latin typeface="Calibri"/>
              </a:rPr>
              <a:t>5. Enrich +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4197096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tenant_id, doc_id, section_path on the row. Embed the section (BGE). pgvector. Isolation is a column, not a prompt.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630168"/>
            <a:ext cx="379476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37764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6AA7"/>
                </a:solidFill>
                <a:latin typeface="Calibri"/>
              </a:rPr>
              <a:t>6. Retrieve + generate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4197096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WHERE tenant_id = ? then kNN. Distance cutoff. Stuff surviving sections only. Trace prompt version → tokens → cost.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GenAI Java  ·  open weights  ·  Spring AI  ·  production RAG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5379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Calibri"/>
              </a:rPr>
              <a:t>6  / 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26AA7"/>
                </a:solidFill>
                <a:latin typeface="Calibri"/>
              </a:rPr>
              <a:t>04  ·  THE 90-MINUTE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Acme asks about PROJECT-ORION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70432"/>
            <a:ext cx="55778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5331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E123C"/>
                </a:solidFill>
                <a:latin typeface="Calibri"/>
              </a:rPr>
              <a:t>Broken  ·  /search/naive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475569"/>
                </a:solidFill>
                <a:latin typeface="Calibri"/>
              </a:rPr>
              <a:t>kNN only. tenant_id is unused metadata.
leakedOtherTenant: true
Globex M&amp;A memo in the context window.
/search/prompt = same retrieval.
“Answer only for Acme” cannot unread tokens.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70432"/>
            <a:ext cx="553212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53312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47857"/>
                </a:solidFill>
                <a:latin typeface="Calibri"/>
              </a:rPr>
              <a:t>Fixed  ·  /search/sql  and  /rls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65960"/>
            <a:ext cx="5074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475569"/>
                </a:solidFill>
                <a:latin typeface="Calibri"/>
              </a:rPr>
              <a:t>SQL: WHERE tenant_id = $1 then kNN.
RLS: no tenant predicate in SQL.
SET LOCAL ROLE lab_app +
app.current_tenant. Superusers skip RLS.
leakedOtherTenant: false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GenAI Java  ·  open weights  ·  Spring AI  ·  production 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5379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Calibri"/>
              </a:rPr>
              <a:t>7  / 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26AA7"/>
                </a:solidFill>
                <a:latin typeface="Calibri"/>
              </a:rPr>
              <a:t>05  · 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GenAI Java cohort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75569"/>
                </a:solidFill>
                <a:latin typeface="Calibri"/>
              </a:rPr>
              <a:t>Six Sundays. Four hours. From the first fence to a tenant-safe RAG.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45920"/>
            <a:ext cx="27889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8105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26AA7"/>
                </a:solidFill>
                <a:latin typeface="Calibri"/>
              </a:rPr>
              <a:t>STARTS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1945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10 October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645920"/>
            <a:ext cx="27889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2" y="18105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26AA7"/>
                </a:solidFill>
                <a:latin typeface="Calibri"/>
              </a:rPr>
              <a:t>CADENCE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1945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Every Sunday · 4 hours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45920"/>
            <a:ext cx="27889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8105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26AA7"/>
                </a:solidFill>
                <a:latin typeface="Calibri"/>
              </a:rPr>
              <a:t>DURATION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1945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6 Sundays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645920"/>
            <a:ext cx="27889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54312" y="18105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26AA7"/>
                </a:solidFill>
                <a:latin typeface="Calibri"/>
              </a:rPr>
              <a:t>SEAT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54312" y="21945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₹10,000 INR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474720"/>
            <a:ext cx="11338560" cy="269748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6576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45309"/>
                </a:solidFill>
                <a:latin typeface="Calibri"/>
              </a:rPr>
              <a:t>What you leave with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148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Calibri"/>
              </a:rPr>
              <a:t>Spring AI ChatClient vs ChatModel vs provider auto-config  ·  bulkheads and idempotent tools  ·  PDF sniff → PDFBox / Docling → section-aware chunks  ·  pgvector with tenant_id in SQL  ·  in-process embeddings  ·  how open-weight runtimes fail in production-shaped ways.
Java 21. Architects in the room. No “hello ChatGPT” labs.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GenAI Java  ·  open weights  ·  Spring AI  ·  production RAG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5379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Calibri"/>
              </a:rPr>
              <a:t>8  /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